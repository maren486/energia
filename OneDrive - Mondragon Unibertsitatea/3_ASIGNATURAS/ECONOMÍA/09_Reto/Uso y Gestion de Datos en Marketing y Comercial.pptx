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C3F909-33E4-44C7-875A-FBB01750BBD0}" v="2" dt="2026-09-14T17:40:37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en Basterrechea Franco" userId="f7ba0ad4-5406-47ee-90e2-533378d5ce9b" providerId="ADAL" clId="{3436C7FC-2398-4478-A41F-6643C6F2DB20}"/>
    <pc:docChg chg="modSld">
      <pc:chgData name="Maren Basterrechea Franco" userId="f7ba0ad4-5406-47ee-90e2-533378d5ce9b" providerId="ADAL" clId="{3436C7FC-2398-4478-A41F-6643C6F2DB20}" dt="2026-09-14T17:40:35.411" v="0"/>
      <pc:docMkLst>
        <pc:docMk/>
      </pc:docMkLst>
      <pc:sldChg chg="modSp">
        <pc:chgData name="Maren Basterrechea Franco" userId="f7ba0ad4-5406-47ee-90e2-533378d5ce9b" providerId="ADAL" clId="{3436C7FC-2398-4478-A41F-6643C6F2DB20}" dt="2026-09-14T17:40:35.411" v="0"/>
        <pc:sldMkLst>
          <pc:docMk/>
          <pc:sldMk cId="0" sldId="256"/>
        </pc:sldMkLst>
        <pc:spChg chg="mod">
          <ac:chgData name="Maren Basterrechea Franco" userId="f7ba0ad4-5406-47ee-90e2-533378d5ce9b" providerId="ADAL" clId="{3436C7FC-2398-4478-A41F-6643C6F2DB20}" dt="2026-09-14T17:40:35.411" v="0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02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keepcoding.io/blog/que-son-los-kpis-de-publicidad-para-ecommerce/" TargetMode="External"/><Relationship Id="rId13" Type="http://schemas.openxmlformats.org/officeDocument/2006/relationships/hyperlink" Target="https://analytics.google.com/analytics/web/provision/#/provision" TargetMode="External"/><Relationship Id="rId3" Type="http://schemas.openxmlformats.org/officeDocument/2006/relationships/hyperlink" Target="https://croclub.com/es/datos-y-reportes/gestion-datos-crm/" TargetMode="External"/><Relationship Id="rId7" Type="http://schemas.openxmlformats.org/officeDocument/2006/relationships/hyperlink" Target="https://www.shopify.com/blog/marketing-kpis" TargetMode="External"/><Relationship Id="rId12" Type="http://schemas.openxmlformats.org/officeDocument/2006/relationships/hyperlink" Target="https://www.cyberclick.es/numerical-blog/7-ejemplos-de-empresas-que-usan-el-big-data-a-su-favor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www.salesforce.com/es/marketing/personalization/guide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yberclick.es/numerical-blog/que-kpi-debes-exigir-a-tu-agencia-de-performance-para-saber-si-funciona" TargetMode="External"/><Relationship Id="rId11" Type="http://schemas.openxmlformats.org/officeDocument/2006/relationships/hyperlink" Target="https://www.crehana.com/blog/transformacion-digital/big-data-casos-de-exito/" TargetMode="External"/><Relationship Id="rId5" Type="http://schemas.openxmlformats.org/officeDocument/2006/relationships/hyperlink" Target="https://asest.es/story/crm-en-gestion-de-marketing/" TargetMode="External"/><Relationship Id="rId15" Type="http://schemas.openxmlformats.org/officeDocument/2006/relationships/hyperlink" Target="https://business.adobe.com/es/products/real-time-customer-data-platform/rtcdp.html" TargetMode="External"/><Relationship Id="rId10" Type="http://schemas.openxmlformats.org/officeDocument/2006/relationships/hyperlink" Target="https://www.bbva.com/es/innovacion/ejemplos-reales-uso-big-data/" TargetMode="External"/><Relationship Id="rId4" Type="http://schemas.openxmlformats.org/officeDocument/2006/relationships/hyperlink" Target="https://datacrm.com/blog/crm-en-marketing-y-ventas" TargetMode="External"/><Relationship Id="rId9" Type="http://schemas.openxmlformats.org/officeDocument/2006/relationships/hyperlink" Target="https://thecmo.com/es/gestion-del-rendimiento/ejemplos-kpi-marketing/" TargetMode="External"/><Relationship Id="rId14" Type="http://schemas.openxmlformats.org/officeDocument/2006/relationships/hyperlink" Target="https://www.salesforce.com/es/?ir=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332720" y="-548640"/>
            <a:ext cx="3291840" cy="32918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y </a:t>
            </a: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</a:t>
            </a: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Datos </a:t>
            </a: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y </a:t>
            </a:r>
            <a:r>
              <a:rPr lang="en-US" sz="4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las empresas B2C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 Lertxundi   ·   Peio Garate   ·   Iraia Laraudogoitia   ·   Maren Basterretxea   ·   Eukene Villán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DEL DATO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se utilizan y gestionan los datos?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recorrido de la información en los departamentos de Marketing y Comercial, tanto en B2B como en B2C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2560320" y="203911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 txBox="1"/>
          <p:nvPr/>
        </p:nvSpPr>
        <p:spPr>
          <a:xfrm>
            <a:off x="2560320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9224" y="268833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Recoger datos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62660" y="3735324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información de distintas fuentes: web, redes sociales, CRM, punto de venta y campañas.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090672" y="3735324"/>
            <a:ext cx="201168" cy="256032"/>
          </a:xfrm>
          <a:prstGeom prst="chevron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319272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5422392" y="203911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 txBox="1"/>
          <p:nvPr/>
        </p:nvSpPr>
        <p:spPr>
          <a:xfrm>
            <a:off x="5422392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3483864" y="2688336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Limpiar datos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3520440" y="3695482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duplicados, errores y registros incompletos para asegurar datos fiables.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952744" y="3735324"/>
            <a:ext cx="201168" cy="256032"/>
          </a:xfrm>
          <a:prstGeom prst="chevron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6181344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8"/>
          <p:cNvSpPr/>
          <p:nvPr/>
        </p:nvSpPr>
        <p:spPr>
          <a:xfrm>
            <a:off x="8284464" y="203911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 txBox="1"/>
          <p:nvPr/>
        </p:nvSpPr>
        <p:spPr>
          <a:xfrm>
            <a:off x="8284464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2775857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 y anticiparse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6382512" y="386334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patrones de comportamiento y anticipar necesidades futuras del cliente.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814816" y="3735324"/>
            <a:ext cx="201168" cy="256032"/>
          </a:xfrm>
          <a:prstGeom prst="chevron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4"/>
          <p:cNvSpPr/>
          <p:nvPr/>
        </p:nvSpPr>
        <p:spPr>
          <a:xfrm>
            <a:off x="9043416" y="1874520"/>
            <a:ext cx="2606040" cy="39776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5"/>
          <p:cNvSpPr/>
          <p:nvPr/>
        </p:nvSpPr>
        <p:spPr>
          <a:xfrm>
            <a:off x="11146536" y="2039112"/>
            <a:ext cx="365760" cy="365760"/>
          </a:xfrm>
          <a:prstGeom prst="ellipse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6"/>
          <p:cNvSpPr txBox="1"/>
          <p:nvPr/>
        </p:nvSpPr>
        <p:spPr>
          <a:xfrm>
            <a:off x="11146536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8"/>
          <p:cNvSpPr txBox="1"/>
          <p:nvPr/>
        </p:nvSpPr>
        <p:spPr>
          <a:xfrm>
            <a:off x="9171432" y="2775857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responsable</a:t>
            </a:r>
            <a:endParaRPr lang="en-US" sz="2000" dirty="0"/>
          </a:p>
        </p:txBody>
      </p:sp>
      <p:sp>
        <p:nvSpPr>
          <p:cNvPr id="35" name="Text 29"/>
          <p:cNvSpPr txBox="1"/>
          <p:nvPr/>
        </p:nvSpPr>
        <p:spPr>
          <a:xfrm>
            <a:off x="9171432" y="3768540"/>
            <a:ext cx="220370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Cumplir la normativa de protección de datos (RGPD) y proteger la privacidad del cliente.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datos e indicadores son clave en cada fase?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 la relación con el cliente necesita sus propias métricas de control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18388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/home/claude/deck/icons/cap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624328"/>
            <a:ext cx="374904" cy="3749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18562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Captación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2219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coste de conseguir nuevos clientes y la eficacia de las campañas.</a:t>
            </a:r>
            <a:endParaRPr lang="en-US" sz="1200" b="1" dirty="0"/>
          </a:p>
        </p:txBody>
      </p:sp>
      <p:sp>
        <p:nvSpPr>
          <p:cNvPr id="10" name="Text 7"/>
          <p:cNvSpPr txBox="1"/>
          <p:nvPr/>
        </p:nvSpPr>
        <p:spPr>
          <a:xfrm>
            <a:off x="1783080" y="28072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(coste de adquisición de cliente)</a:t>
            </a:r>
            <a:endParaRPr lang="en-US" sz="108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conversión y CTR de campañas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515100" y="24231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/home/claude/deck/icons/interac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2624328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79792" y="18562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Interacción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79792" y="22219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cómo responden los clientes y su nivel de interés.</a:t>
            </a:r>
            <a:endParaRPr lang="en-US" sz="1200" b="1" dirty="0"/>
          </a:p>
        </p:txBody>
      </p:sp>
      <p:sp>
        <p:nvSpPr>
          <p:cNvPr id="16" name="Text 12"/>
          <p:cNvSpPr txBox="1"/>
          <p:nvPr/>
        </p:nvSpPr>
        <p:spPr>
          <a:xfrm>
            <a:off x="7479792" y="28072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apertura y engagement</a:t>
            </a:r>
            <a:endParaRPr lang="en-US" sz="108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en web / app, clics e interacciones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48640" y="42062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18388" y="49377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/home/claude/deck/icons/va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5138928"/>
            <a:ext cx="374904" cy="37490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83080" y="43708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Valor del cliente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783080" y="47365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cuánto aporta cada cliente a largo plazo y su rentabilidad.</a:t>
            </a:r>
            <a:endParaRPr lang="en-US" sz="1200" b="1" dirty="0"/>
          </a:p>
        </p:txBody>
      </p:sp>
      <p:sp>
        <p:nvSpPr>
          <p:cNvPr id="22" name="Text 17"/>
          <p:cNvSpPr txBox="1"/>
          <p:nvPr/>
        </p:nvSpPr>
        <p:spPr>
          <a:xfrm>
            <a:off x="1783080" y="53218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(CLV)</a:t>
            </a:r>
            <a:endParaRPr lang="en-US" sz="108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compra y ticket medio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6245352" y="420624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6515100" y="49377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3" descr="/home/claude/deck/icons/rentabilid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6268" y="5138928"/>
            <a:ext cx="374904" cy="37490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79792" y="437083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Rentabilidad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479792" y="473659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canales funcionan mejor y dónde conviene invertir el presupuesto.</a:t>
            </a:r>
            <a:endParaRPr lang="en-US" sz="1200" b="1" dirty="0"/>
          </a:p>
        </p:txBody>
      </p:sp>
      <p:sp>
        <p:nvSpPr>
          <p:cNvPr id="28" name="Text 22"/>
          <p:cNvSpPr txBox="1"/>
          <p:nvPr/>
        </p:nvSpPr>
        <p:spPr>
          <a:xfrm>
            <a:off x="7479792" y="5321808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y ROAS por canal</a:t>
            </a:r>
            <a:endParaRPr lang="en-US" sz="108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08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 por canal frente a retorno obtenido</a:t>
            </a:r>
            <a:endParaRPr lang="en-US" sz="1080" dirty="0"/>
          </a:p>
        </p:txBody>
      </p:sp>
      <p:sp>
        <p:nvSpPr>
          <p:cNvPr id="29" name="Text 23"/>
          <p:cNvSpPr txBox="1"/>
          <p:nvPr/>
        </p:nvSpPr>
        <p:spPr>
          <a:xfrm>
            <a:off x="9265615" y="6473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afecta el uso de los datos a la toma de decisiones?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directo de una buena gestión de datos en el día a día del departamento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77824" y="1769364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/home/claude/deck/icons/bombil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97053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74520" y="1792224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más fiables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0" cy="59436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6446520" y="1792224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Basadas en evidencias y datos reales, no en intuición.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75234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877824" y="2875788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1" descr="/home/claude/deck/icons/interacc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30769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874520" y="28986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personalización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6126480" y="2935224"/>
            <a:ext cx="0" cy="59436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 txBox="1"/>
          <p:nvPr/>
        </p:nvSpPr>
        <p:spPr>
          <a:xfrm>
            <a:off x="6446520" y="289864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adaptada a cada cliente según su comportamiento e intereses.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385876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877824" y="3982212"/>
            <a:ext cx="713232" cy="713232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9" name="Image 2" descr="/home/claude/deck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4183380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874520" y="400507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rápida</a:t>
            </a:r>
            <a:endParaRPr lang="en-US" sz="1650" dirty="0"/>
          </a:p>
        </p:txBody>
      </p:sp>
      <p:sp>
        <p:nvSpPr>
          <p:cNvPr id="21" name="Shape 16"/>
          <p:cNvSpPr/>
          <p:nvPr/>
        </p:nvSpPr>
        <p:spPr>
          <a:xfrm>
            <a:off x="6126480" y="4041648"/>
            <a:ext cx="0" cy="59436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7"/>
          <p:cNvSpPr txBox="1"/>
          <p:nvPr/>
        </p:nvSpPr>
        <p:spPr>
          <a:xfrm>
            <a:off x="6446520" y="400507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campañas que no funcionan y posibles problemas detectados a tiempo.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48640" y="4965192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877824" y="5088636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3" descr="/home/claude/deck/icons/coi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528980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874520" y="5111496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recursos</a:t>
            </a:r>
            <a:endParaRPr lang="en-US" sz="1650" dirty="0"/>
          </a:p>
        </p:txBody>
      </p:sp>
      <p:sp>
        <p:nvSpPr>
          <p:cNvPr id="27" name="Shape 21"/>
          <p:cNvSpPr/>
          <p:nvPr/>
        </p:nvSpPr>
        <p:spPr>
          <a:xfrm>
            <a:off x="6126480" y="5148072"/>
            <a:ext cx="0" cy="594360"/>
          </a:xfrm>
          <a:prstGeom prst="line">
            <a:avLst/>
          </a:prstGeom>
          <a:noFill/>
          <a:ln w="12700">
            <a:solidFill>
              <a:srgbClr val="D8E2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2"/>
          <p:cNvSpPr txBox="1"/>
          <p:nvPr/>
        </p:nvSpPr>
        <p:spPr>
          <a:xfrm>
            <a:off x="6446520" y="511149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se destina a los canales con mayor retorno (ROI).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empresas que ya lo aplican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891540" y="1970532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1920240" y="20756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Netflix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108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utiliza: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3474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búsquedas</a:t>
            </a:r>
            <a:endParaRPr lang="en-US" sz="1400" dirty="0"/>
          </a:p>
          <a:p>
            <a:pPr marL="203200" indent="-2032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Valoraciones de contenido</a:t>
            </a:r>
            <a:endParaRPr lang="en-US" sz="1400" dirty="0"/>
          </a:p>
          <a:p>
            <a:pPr marL="203200" indent="-2032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visualización consumido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45352" y="1691640"/>
            <a:ext cx="53949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6588252" y="1970532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 txBox="1"/>
          <p:nvPr/>
        </p:nvSpPr>
        <p:spPr>
          <a:xfrm>
            <a:off x="7616952" y="2075688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6702552" y="3108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utiliza: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748272" y="347472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búsquedas</a:t>
            </a:r>
            <a:endParaRPr lang="en-US" sz="1400" dirty="0"/>
          </a:p>
          <a:p>
            <a:pPr marL="203200" indent="-2032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datos anteriores</a:t>
            </a:r>
            <a:endParaRPr lang="en-US" sz="1400" dirty="0"/>
          </a:p>
          <a:p>
            <a:pPr marL="203200" indent="-203200">
              <a:lnSpc>
                <a:spcPct val="130000"/>
              </a:lnSpc>
              <a:buSzPct val="100000"/>
              <a:buChar char="▪"/>
            </a:pPr>
            <a:r>
              <a:rPr lang="en-US" sz="14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consultados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 txBox="1"/>
          <p:nvPr/>
        </p:nvSpPr>
        <p:spPr>
          <a:xfrm>
            <a:off x="868680" y="502920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ambos casos, el objetivo es el mismo: conocer mejor los gustos del cliente para ofrecer recomendaciones personalizadas que aumenten la fidelización y las ventas.</a:t>
            </a:r>
            <a:endParaRPr lang="en-US" sz="1600" b="1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4B565A7-EA05-C4AC-0530-E4EC09030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57400"/>
            <a:ext cx="685800" cy="6858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C88188E-3C8B-5847-C52D-2E5CE4A63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270" y="2103120"/>
            <a:ext cx="722644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software útiles para las empresas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070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que permiten recoger, analizar y activar los datos de clientes de forma eficaz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325880" y="22631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/home/claude/deck/icons/g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048" y="2464308"/>
            <a:ext cx="466344" cy="4663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333756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Analytics 4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97764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el comportamiento de los clientes en la web y las compras.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19272" y="18288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4187952" y="22631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/home/claude/deck/icons/salesfor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464308"/>
            <a:ext cx="466344" cy="4663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83864" y="333756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Salesforce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97764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los datos de clientes y ventas mediante un CRM.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81344" y="18288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050024" y="22631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/home/claude/deck/icons/powerb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464308"/>
            <a:ext cx="466344" cy="4663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45936" y="333756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82512" y="397764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gráficos e informes para analizar ventas, clientes y campañas.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43416" y="182880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9912096" y="22631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3" descr="/home/claude/deck/icons/ad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464308"/>
            <a:ext cx="466344" cy="4663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08008" y="3337560"/>
            <a:ext cx="22768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Adobe Real-Time CDP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9244584" y="3977640"/>
            <a:ext cx="220370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 datos de clientes y crea segmentos para campañas personalizadas.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160020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datos CRM — The CRO Club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https://croclub.com/es/datos-y-reportes/gestion-datos-crm/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en marketing y ventas — DataCRM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https://datacrm.com/blog/crm-en-marketing-y-ventas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en la Gestión de Marketing — Asest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https://asest.es/story/crm-en-gestion-de-marketing/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para agencias de performance — Cyberclick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https://www.cyberclick.es/numerical-blog/que-kpi-debes-exigir-a-tu-agencia-de-performance-para-saber-si-funciona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KPIs — Shopify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https://www.shopify.com/blog/marketing-kpis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publicidad para ecommerce — KeepCoding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https://keepcoding.io/blog/que-son-los-kpis-de-publicidad-para-ecommerce/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KPIs de marketing — TheCMO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https://thecmo.com/es/gestion-del-rendimiento/ejemplos-kpi-marketing/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00200"/>
            <a:ext cx="52120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reales de uso de Big Data — BBVA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https://www.bbva.com/es/innovacion/ejemplos-reales-uso-big-data/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Data: casos de éxito — Crehana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https://www.crehana.com/blog/transformacion-digital/big-data-casos-de-exito/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ejemplos de empresas que usan el Big Data — Cyberclick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https://www.cyberclick.es/numerical-blog/7-ejemplos-de-empresas-que-usan-el-big-data-a-su-favor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https://analytics.google.com/analytics/web/provision/#/provision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España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https://www.salesforce.com/es/?ir=1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Real-Time CDP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https://business.adobe.com/es/products/real-time-customer-data-platform/rtcdp.html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 — Guía de Salesforce Marketing
</a:t>
            </a:r>
            <a:r>
              <a:rPr lang="en-US" sz="1000" u="sng" dirty="0">
                <a:solidFill>
                  <a:srgbClr val="8FB6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https://www.salesforce.com/es/marketing/personalization/guide/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795</Words>
  <Application>Microsoft Office PowerPoint</Application>
  <PresentationFormat>Panorámica</PresentationFormat>
  <Paragraphs>95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Maren Basterrechea Franco</cp:lastModifiedBy>
  <cp:revision>1</cp:revision>
  <dcterms:created xsi:type="dcterms:W3CDTF">2026-09-14T17:09:44Z</dcterms:created>
  <dcterms:modified xsi:type="dcterms:W3CDTF">2026-09-14T17:49:54Z</dcterms:modified>
</cp:coreProperties>
</file>